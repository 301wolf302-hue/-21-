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9937" autoAdjust="0"/>
    <p:restoredTop sz="94660"/>
  </p:normalViewPr>
  <p:slideViewPr>
    <p:cSldViewPr>
      <p:cViewPr varScale="1">
        <p:scale>
          <a:sx n="111" d="100"/>
          <a:sy n="111" d="100"/>
        </p:scale>
        <p:origin x="12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68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8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8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04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78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222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41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82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43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50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F32FD-8DFB-4F1F-8797-CE234337E884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12A4B-CAEF-47FC-86C8-93E597C03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870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C62E3E"/>
          </a:solidFill>
          <a:ln>
            <a:noFill/>
          </a:ln>
          <a:extLs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 anchor="ctr"/>
          <a:lstStyle>
            <a:lvl1pPr marL="91440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3600" dirty="0" smtClean="0">
                <a:solidFill>
                  <a:schemeClr val="bg1"/>
                </a:solidFill>
              </a:rPr>
              <a:t>ИКМ №2</a:t>
            </a:r>
            <a:endParaRPr lang="ru-RU" altLang="ru-RU" sz="3600" dirty="0">
              <a:solidFill>
                <a:schemeClr val="bg1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endParaRPr lang="ru-RU" altLang="ru-RU" sz="2000" dirty="0" smtClean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r>
              <a:rPr lang="ru-RU" altLang="ru-RU" sz="2000" dirty="0" smtClean="0">
                <a:solidFill>
                  <a:srgbClr val="FFFFFF"/>
                </a:solidFill>
                <a:latin typeface="PermianSansTypeface" pitchFamily="48" charset="0"/>
              </a:rPr>
              <a:t>Вариант </a:t>
            </a:r>
            <a:r>
              <a:rPr lang="ru-RU" altLang="ru-RU" sz="2000" dirty="0" smtClean="0">
                <a:solidFill>
                  <a:srgbClr val="FFFFFF"/>
                </a:solidFill>
                <a:latin typeface="PermianSansTypeface" pitchFamily="48" charset="0"/>
              </a:rPr>
              <a:t>21</a:t>
            </a:r>
            <a:endParaRPr lang="ru-RU" altLang="ru-RU" sz="2000" dirty="0" smtClean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endParaRPr lang="ru-RU" altLang="ru-RU" sz="2000" dirty="0" smtClean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r>
              <a:rPr lang="ru-RU" altLang="ru-RU" sz="2000" dirty="0" err="1" smtClean="0">
                <a:solidFill>
                  <a:srgbClr val="FFFFFF"/>
                </a:solidFill>
                <a:latin typeface="PermianSansTypeface" pitchFamily="48" charset="0"/>
              </a:rPr>
              <a:t>Пустосмехов</a:t>
            </a:r>
            <a:r>
              <a:rPr lang="ru-RU" altLang="ru-RU" sz="2000" dirty="0" smtClean="0">
                <a:solidFill>
                  <a:srgbClr val="FFFFFF"/>
                </a:solidFill>
                <a:latin typeface="PermianSansTypeface" pitchFamily="48" charset="0"/>
              </a:rPr>
              <a:t> Михаил</a:t>
            </a:r>
            <a:endParaRPr lang="ru-RU" altLang="ru-RU" sz="2000" dirty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r>
              <a:rPr lang="ru-RU" altLang="ru-RU" sz="2000" dirty="0">
                <a:solidFill>
                  <a:srgbClr val="FFFFFF"/>
                </a:solidFill>
                <a:latin typeface="PermianSansTypeface" pitchFamily="48" charset="0"/>
              </a:rPr>
              <a:t>ИТ - 9, 10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541463" y="2827338"/>
            <a:ext cx="66738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hangingPunct="0"/>
            <a:endParaRPr lang="ru-RU" altLang="ru-RU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447675"/>
            <a:ext cx="5133975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965200" y="1976438"/>
            <a:ext cx="7199313" cy="1587"/>
          </a:xfrm>
          <a:prstGeom prst="line">
            <a:avLst/>
          </a:prstGeom>
          <a:noFill/>
          <a:ln w="2556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968375"/>
          </a:xfrm>
          <a:prstGeom prst="rect">
            <a:avLst/>
          </a:prstGeom>
          <a:solidFill>
            <a:srgbClr val="C62E3E"/>
          </a:solidFill>
          <a:ln>
            <a:noFill/>
          </a:ln>
          <a:extLs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hangingPunct="0"/>
            <a:endParaRPr lang="ru-RU" alt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Постановка задачи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11560" y="2315781"/>
            <a:ext cx="338437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b="1" dirty="0"/>
              <a:t>ЦЕЛЬ: </a:t>
            </a:r>
            <a:endParaRPr lang="ru-RU" altLang="ru-RU" sz="2000" b="1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 smtClean="0"/>
              <a:t>Разработать </a:t>
            </a:r>
            <a:r>
              <a:rPr lang="ru-RU" altLang="ru-RU" dirty="0"/>
              <a:t>программу для вычисления выражений с использованием стека. </a:t>
            </a:r>
            <a:endParaRPr lang="ru-RU" altLang="ru-RU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b="1" dirty="0" smtClean="0"/>
              <a:t>ТРЕБОВАНИЯ</a:t>
            </a:r>
            <a:r>
              <a:rPr lang="ru-RU" altLang="ru-RU" sz="2000" b="1" dirty="0"/>
              <a:t>:</a:t>
            </a:r>
            <a:r>
              <a:rPr lang="ru-RU" altLang="ru-RU" b="1" dirty="0"/>
              <a:t> </a:t>
            </a:r>
            <a:r>
              <a:rPr lang="ru-RU" altLang="ru-RU" dirty="0"/>
              <a:t>- операции могут быть вложенными - аргументы - целые положительные числа - строка корректна, без пробелов </a:t>
            </a:r>
          </a:p>
        </p:txBody>
      </p:sp>
    </p:spTree>
    <p:extLst>
      <p:ext uri="{BB962C8B-B14F-4D97-AF65-F5344CB8AC3E}">
        <p14:creationId xmlns:p14="http://schemas.microsoft.com/office/powerpoint/2010/main" val="294009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СЛАЙД 3: АЛГОРИТМ РЕШЕНИЯ</a:t>
            </a:r>
          </a:p>
          <a:p>
            <a:pPr marL="0" indent="0" algn="ctr">
              <a:buNone/>
            </a:pPr>
            <a:endParaRPr lang="ru-RU" sz="4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Ввод выражения с функциями m() и M()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Разбиение строки на </a:t>
            </a:r>
            <a:r>
              <a:rPr lang="ru-RU" sz="4900" dirty="0" err="1">
                <a:latin typeface="Arial" panose="020B0604020202020204" pitchFamily="34" charset="0"/>
                <a:cs typeface="Arial" panose="020B0604020202020204" pitchFamily="34" charset="0"/>
              </a:rPr>
              <a:t>токены</a:t>
            </a: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 (числа, операторы, скобки, запятые)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Последовательный просмотр </a:t>
            </a:r>
            <a:r>
              <a:rPr lang="ru-RU" sz="4900" dirty="0" err="1">
                <a:latin typeface="Arial" panose="020B0604020202020204" pitchFamily="34" charset="0"/>
                <a:cs typeface="Arial" panose="020B0604020202020204" pitchFamily="34" charset="0"/>
              </a:rPr>
              <a:t>токенов</a:t>
            </a: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 справа налево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Проверка: число или оператор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Если число → поместить в стек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Если оператор (m или M) → извлечь два верхних элемента стека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Вычислить минимум (m) или максимум (M)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Поместить результат обратно в стек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Проверка окончания обработки </a:t>
            </a:r>
            <a:r>
              <a:rPr lang="ru-RU" sz="4900" dirty="0" err="1">
                <a:latin typeface="Arial" panose="020B0604020202020204" pitchFamily="34" charset="0"/>
                <a:cs typeface="Arial" panose="020B0604020202020204" pitchFamily="34" charset="0"/>
              </a:rPr>
              <a:t>токенов</a:t>
            </a:r>
            <a:endParaRPr lang="ru-RU" sz="4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Получение итогового результата из стека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ru-RU" sz="4900" dirty="0">
                <a:latin typeface="Arial" panose="020B0604020202020204" pitchFamily="34" charset="0"/>
                <a:cs typeface="Arial" panose="020B0604020202020204" pitchFamily="34" charset="0"/>
              </a:rPr>
              <a:t>Вывод результата на экран / Сообщение об ошибке</a:t>
            </a: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968375"/>
          </a:xfrm>
          <a:prstGeom prst="rect">
            <a:avLst/>
          </a:prstGeom>
          <a:solidFill>
            <a:srgbClr val="C62E3E"/>
          </a:solidFill>
          <a:ln>
            <a:noFill/>
          </a:ln>
          <a:extLs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hangingPunct="0"/>
            <a:endParaRPr lang="ru-RU" alt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решения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73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8057" y="0"/>
            <a:ext cx="9144000" cy="968375"/>
          </a:xfrm>
          <a:prstGeom prst="rect">
            <a:avLst/>
          </a:prstGeom>
          <a:solidFill>
            <a:srgbClr val="C62E3E"/>
          </a:solidFill>
          <a:ln>
            <a:noFill/>
          </a:ln>
          <a:extLs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hangingPunct="0"/>
            <a:endParaRPr lang="ru-RU" alt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8328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ДАННЫХ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5736" y="2492896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83568" y="2564904"/>
            <a:ext cx="4320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МЕТОДЫ</a:t>
            </a:r>
            <a:r>
              <a:rPr lang="ru-RU" sz="1200" dirty="0"/>
              <a:t>:</a:t>
            </a:r>
          </a:p>
          <a:p>
            <a:r>
              <a:rPr lang="ru-RU" sz="1200" dirty="0"/>
              <a:t>+ </a:t>
            </a:r>
            <a:r>
              <a:rPr lang="en-US" sz="1200" dirty="0"/>
              <a:t>push(value)   - </a:t>
            </a:r>
            <a:r>
              <a:rPr lang="ru-RU" sz="1200" dirty="0"/>
              <a:t>добавить элемент на вершину</a:t>
            </a:r>
          </a:p>
          <a:p>
            <a:r>
              <a:rPr lang="ru-RU" sz="1200" dirty="0"/>
              <a:t>+ </a:t>
            </a:r>
            <a:r>
              <a:rPr lang="en-US" sz="1200" dirty="0"/>
              <a:t>pop()         - </a:t>
            </a:r>
            <a:r>
              <a:rPr lang="ru-RU" sz="1200" dirty="0"/>
              <a:t>извлечь элемент с вершины</a:t>
            </a:r>
          </a:p>
          <a:p>
            <a:r>
              <a:rPr lang="ru-RU" sz="1200" dirty="0"/>
              <a:t>+ </a:t>
            </a:r>
            <a:r>
              <a:rPr lang="en-US" sz="1200" dirty="0"/>
              <a:t>peek()        - </a:t>
            </a:r>
            <a:r>
              <a:rPr lang="ru-RU" sz="1200" dirty="0"/>
              <a:t>посмотреть верхний элемент</a:t>
            </a:r>
          </a:p>
          <a:p>
            <a:r>
              <a:rPr lang="ru-RU" sz="1200" dirty="0"/>
              <a:t>+ </a:t>
            </a:r>
            <a:r>
              <a:rPr lang="en-US" sz="1200" dirty="0" err="1"/>
              <a:t>is_empty</a:t>
            </a:r>
            <a:r>
              <a:rPr lang="en-US" sz="1200" dirty="0"/>
              <a:t>()    - </a:t>
            </a:r>
            <a:r>
              <a:rPr lang="ru-RU" sz="1200" dirty="0"/>
              <a:t>проверить, пуст ли стек</a:t>
            </a:r>
          </a:p>
          <a:p>
            <a:r>
              <a:rPr lang="ru-RU" sz="1200" dirty="0"/>
              <a:t>+ </a:t>
            </a:r>
            <a:r>
              <a:rPr lang="en-US" sz="1200" dirty="0" err="1"/>
              <a:t>get_size</a:t>
            </a:r>
            <a:r>
              <a:rPr lang="en-US" sz="1200" dirty="0"/>
              <a:t>()    - </a:t>
            </a:r>
            <a:r>
              <a:rPr lang="ru-RU" sz="1200" dirty="0"/>
              <a:t>получить количество элементов</a:t>
            </a:r>
          </a:p>
          <a:p>
            <a:endParaRPr lang="ru-RU" sz="1200" dirty="0"/>
          </a:p>
          <a:p>
            <a:endParaRPr lang="ru-RU" sz="1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980" y="2492896"/>
            <a:ext cx="3286584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4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968375"/>
          </a:xfrm>
          <a:prstGeom prst="rect">
            <a:avLst/>
          </a:prstGeom>
          <a:solidFill>
            <a:srgbClr val="C62E3E"/>
          </a:solidFill>
          <a:ln>
            <a:noFill/>
          </a:ln>
          <a:extLs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hangingPunct="0"/>
            <a:endParaRPr lang="ru-RU" alt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РАБОТЫ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39"/>
          <a:stretch/>
        </p:blipFill>
        <p:spPr>
          <a:xfrm>
            <a:off x="457200" y="1412776"/>
            <a:ext cx="4528150" cy="244827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31" y="3895509"/>
            <a:ext cx="7046866" cy="290357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36"/>
          <a:stretch/>
        </p:blipFill>
        <p:spPr>
          <a:xfrm>
            <a:off x="4572000" y="1916832"/>
            <a:ext cx="4608512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6131024" cy="355699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4800" dirty="0" smtClean="0"/>
              <a:t>Проверено</a:t>
            </a:r>
            <a:r>
              <a:rPr lang="ru-RU" sz="4800" dirty="0"/>
              <a:t>:</a:t>
            </a:r>
          </a:p>
          <a:p>
            <a:pPr marL="0" indent="0">
              <a:buNone/>
            </a:pPr>
            <a:r>
              <a:rPr lang="ru-RU" sz="4800" dirty="0"/>
              <a:t>✓ корректные выражения</a:t>
            </a:r>
          </a:p>
          <a:p>
            <a:pPr marL="0" indent="0">
              <a:buNone/>
            </a:pPr>
            <a:r>
              <a:rPr lang="ru-RU" sz="4800" dirty="0"/>
              <a:t>✓ вложенные функции</a:t>
            </a:r>
          </a:p>
          <a:p>
            <a:pPr marL="0" indent="0">
              <a:buNone/>
            </a:pPr>
            <a:r>
              <a:rPr lang="ru-RU" sz="4800" dirty="0"/>
              <a:t>✓ все операции (m - минимум, M - максимум)</a:t>
            </a:r>
          </a:p>
          <a:p>
            <a:pPr marL="0" indent="0">
              <a:buNone/>
            </a:pPr>
            <a:r>
              <a:rPr lang="ru-RU" sz="4800" dirty="0"/>
              <a:t>✓ целые положительные числа</a:t>
            </a:r>
          </a:p>
          <a:p>
            <a:pPr marL="0" indent="0">
              <a:buNone/>
            </a:pPr>
            <a:r>
              <a:rPr lang="ru-RU" sz="4800" dirty="0"/>
              <a:t>✓ неверный формат выражения</a:t>
            </a:r>
          </a:p>
          <a:p>
            <a:pPr marL="0" indent="0">
              <a:buNone/>
            </a:pPr>
            <a:r>
              <a:rPr lang="ru-RU" sz="4800" dirty="0"/>
              <a:t>✓ ошибки пользовательского ввода</a:t>
            </a:r>
          </a:p>
          <a:p>
            <a:pPr marL="0" indent="0">
              <a:buNone/>
            </a:pPr>
            <a:endParaRPr lang="ru-RU" sz="4800" dirty="0"/>
          </a:p>
          <a:p>
            <a:pPr marL="0" indent="0">
              <a:buNone/>
            </a:pPr>
            <a:r>
              <a:rPr lang="ru-RU" sz="4800" dirty="0"/>
              <a:t>Примеры тестов:</a:t>
            </a:r>
          </a:p>
          <a:p>
            <a:pPr marL="0" indent="0">
              <a:buNone/>
            </a:pPr>
            <a:endParaRPr lang="ru-RU" sz="4800" dirty="0"/>
          </a:p>
          <a:p>
            <a:pPr marL="0" indent="0">
              <a:buNone/>
            </a:pPr>
            <a:r>
              <a:rPr lang="ru-RU" sz="4800" dirty="0"/>
              <a:t>Входное выражение              Результат  Статус</a:t>
            </a:r>
          </a:p>
          <a:p>
            <a:pPr marL="0" indent="0">
              <a:buNone/>
            </a:pPr>
            <a:r>
              <a:rPr lang="ru-RU" sz="4800" dirty="0"/>
              <a:t>M(15,m(16,8))                  </a:t>
            </a:r>
            <a:r>
              <a:rPr lang="ru-RU" sz="4800" dirty="0" smtClean="0"/>
              <a:t>	15                 OK</a:t>
            </a:r>
            <a:endParaRPr lang="ru-RU" sz="4800" dirty="0"/>
          </a:p>
          <a:p>
            <a:pPr marL="0" indent="0">
              <a:buNone/>
            </a:pPr>
            <a:r>
              <a:rPr lang="ru-RU" sz="4800" dirty="0"/>
              <a:t>m(M(10,20),M(5,15))          </a:t>
            </a:r>
            <a:r>
              <a:rPr lang="ru-RU" sz="4800" dirty="0" smtClean="0"/>
              <a:t>     20                </a:t>
            </a:r>
            <a:r>
              <a:rPr lang="ru-RU" sz="4800" dirty="0"/>
              <a:t>OK</a:t>
            </a:r>
          </a:p>
          <a:p>
            <a:pPr marL="0" indent="0">
              <a:buNone/>
            </a:pPr>
            <a:r>
              <a:rPr lang="ru-RU" sz="4800" dirty="0"/>
              <a:t>M(m(1,100),M(50,60))          </a:t>
            </a:r>
            <a:r>
              <a:rPr lang="ru-RU" sz="4800" dirty="0" smtClean="0"/>
              <a:t>   60                OK</a:t>
            </a:r>
            <a:endParaRPr lang="ru-RU" sz="4800" dirty="0"/>
          </a:p>
          <a:p>
            <a:pPr marL="0" indent="0">
              <a:buNone/>
            </a:pPr>
            <a:r>
              <a:rPr lang="ru-RU" sz="4800" dirty="0"/>
              <a:t>m(5,5)                        </a:t>
            </a:r>
            <a:r>
              <a:rPr lang="ru-RU" sz="4800" dirty="0" smtClean="0"/>
              <a:t>	 </a:t>
            </a:r>
            <a:r>
              <a:rPr lang="ru-RU" sz="4800" dirty="0"/>
              <a:t>5         </a:t>
            </a:r>
            <a:r>
              <a:rPr lang="ru-RU" sz="4800" dirty="0" smtClean="0"/>
              <a:t>         OK</a:t>
            </a:r>
            <a:endParaRPr lang="ru-RU" sz="4800" dirty="0"/>
          </a:p>
          <a:p>
            <a:pPr marL="0" indent="0">
              <a:buNone/>
            </a:pPr>
            <a:r>
              <a:rPr lang="ru-RU" sz="4800" dirty="0"/>
              <a:t>M(100,m(1,2))                 </a:t>
            </a:r>
            <a:r>
              <a:rPr lang="ru-RU" sz="4800" dirty="0" smtClean="0"/>
              <a:t>          100              OK</a:t>
            </a:r>
            <a:endParaRPr lang="ru-RU" sz="4800" dirty="0"/>
          </a:p>
          <a:p>
            <a:pPr marL="0" indent="0">
              <a:buNone/>
            </a:pPr>
            <a:r>
              <a:rPr lang="ru-RU" sz="4800" dirty="0"/>
              <a:t>m(M(8,2),M(3,9))               </a:t>
            </a:r>
            <a:r>
              <a:rPr lang="ru-RU" sz="4800" dirty="0" smtClean="0"/>
              <a:t>        8                 OK</a:t>
            </a:r>
            <a:endParaRPr lang="ru-RU" sz="4800" dirty="0"/>
          </a:p>
          <a:p>
            <a:pPr marL="0" indent="0">
              <a:buNone/>
            </a:pPr>
            <a:endParaRPr lang="ru-RU" sz="4800" dirty="0"/>
          </a:p>
          <a:p>
            <a:pPr marL="0" indent="0">
              <a:buNone/>
            </a:pPr>
            <a:r>
              <a:rPr lang="ru-RU" sz="4800" dirty="0"/>
              <a:t>Все тесты пройдены успешно.</a:t>
            </a:r>
            <a:endParaRPr lang="ru-RU" sz="48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968375"/>
          </a:xfrm>
          <a:prstGeom prst="rect">
            <a:avLst/>
          </a:prstGeom>
          <a:solidFill>
            <a:srgbClr val="C62E3E"/>
          </a:solidFill>
          <a:ln>
            <a:noFill/>
          </a:ln>
          <a:extLs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hangingPunct="0"/>
            <a:endParaRPr lang="ru-RU" alt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9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541338"/>
            <a:ext cx="1439863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17929"/>
            <a:ext cx="9144000" cy="6858000"/>
          </a:xfrm>
          <a:prstGeom prst="rect">
            <a:avLst/>
          </a:prstGeom>
          <a:solidFill>
            <a:srgbClr val="C62E3E"/>
          </a:solidFill>
          <a:ln>
            <a:noFill/>
          </a:ln>
          <a:extLs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 anchor="ctr"/>
          <a:lstStyle>
            <a:lvl1pPr marL="91440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>
              <a:lnSpc>
                <a:spcPct val="100000"/>
              </a:lnSpc>
            </a:pPr>
            <a:endParaRPr lang="ru-RU" altLang="ru-RU" sz="3600" dirty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endParaRPr lang="ru-RU" altLang="ru-RU" sz="3600" dirty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endParaRPr lang="ru-RU" altLang="ru-RU" sz="3600" dirty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endParaRPr lang="ru-RU" altLang="ru-RU" sz="3600" dirty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r>
              <a:rPr lang="ru-RU" altLang="ru-RU" sz="3600" dirty="0">
                <a:solidFill>
                  <a:srgbClr val="FFFFFF"/>
                </a:solidFill>
                <a:latin typeface="PermianSansTypeface" pitchFamily="48" charset="0"/>
              </a:rPr>
              <a:t>Спасибо за внимание!</a:t>
            </a:r>
          </a:p>
          <a:p>
            <a:pPr>
              <a:lnSpc>
                <a:spcPct val="100000"/>
              </a:lnSpc>
            </a:pPr>
            <a:endParaRPr lang="ru-RU" altLang="ru-RU" sz="3600" dirty="0">
              <a:solidFill>
                <a:srgbClr val="FFFFFF"/>
              </a:solidFill>
              <a:latin typeface="PermianSansTypeface" pitchFamily="48" charset="0"/>
            </a:endParaRPr>
          </a:p>
          <a:p>
            <a:pPr>
              <a:lnSpc>
                <a:spcPct val="100000"/>
              </a:lnSpc>
            </a:pPr>
            <a:endParaRPr lang="ru-RU" altLang="ru-RU" sz="3600" dirty="0">
              <a:solidFill>
                <a:srgbClr val="FFFFFF"/>
              </a:solidFill>
              <a:latin typeface="PermianSansTypeface" pitchFamily="4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541338"/>
            <a:ext cx="1439863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13837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235</Words>
  <Application>Microsoft Office PowerPoint</Application>
  <PresentationFormat>Экран (4:3)</PresentationFormat>
  <Paragraphs>68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Droid Sans Fallback</vt:lpstr>
      <vt:lpstr>PermianSansTypeface</vt:lpstr>
      <vt:lpstr>Тема Office</vt:lpstr>
      <vt:lpstr>Презентация PowerPoint</vt:lpstr>
      <vt:lpstr>Постановка задачи</vt:lpstr>
      <vt:lpstr>Алгоритм решения</vt:lpstr>
      <vt:lpstr>СТРУКТУРА ДАННЫХ</vt:lpstr>
      <vt:lpstr>ДЕМОНСТРАЦИЯ РАБОТЫ</vt:lpstr>
      <vt:lpstr>ТЕСТИРОВАНИЕ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Ivan</dc:creator>
  <cp:lastModifiedBy>miha</cp:lastModifiedBy>
  <cp:revision>13</cp:revision>
  <dcterms:created xsi:type="dcterms:W3CDTF">2026-06-17T21:51:56Z</dcterms:created>
  <dcterms:modified xsi:type="dcterms:W3CDTF">2026-06-25T13:37:27Z</dcterms:modified>
</cp:coreProperties>
</file>